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66928"/>
            <a:ext cx="9875520" cy="6583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3300" b="1">
                <a:solidFill>
                  <a:srgbClr val="1E293B"/>
                </a:solidFill>
                <a:latin typeface="Aptos"/>
              </a:defRPr>
            </a:pPr>
            <a:r>
              <a:t>GeoTransformer 论文重点解读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6656" y="1325880"/>
            <a:ext cx="99669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500" b="0">
                <a:solidFill>
                  <a:srgbClr val="566375"/>
                </a:solidFill>
                <a:latin typeface="Aptos"/>
              </a:defRPr>
            </a:pPr>
            <a:r>
              <a:t>Geometric Transformer for Fast and Robust Point Cloud Registration, CVPR 2022</a:t>
            </a:r>
          </a:p>
        </p:txBody>
      </p:sp>
      <p:pic>
        <p:nvPicPr>
          <p:cNvPr id="4" name="Picture 3" descr="fig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2828" y="1847088"/>
            <a:ext cx="3219463" cy="2423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1938528"/>
            <a:ext cx="5394960" cy="896112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938528"/>
            <a:ext cx="73152" cy="896112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48256"/>
            <a:ext cx="5102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一句话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59152"/>
            <a:ext cx="5102352" cy="393191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用刚体不变的几何 self-attention 提升 superpoint 对应质量，再把 patch 对应传播到 dense point，并用 LGR 做 RANSAC-free 位姿估计。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6324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3063240"/>
            <a:ext cx="73152" cy="1051560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3172968"/>
            <a:ext cx="5102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解决痛点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83864"/>
            <a:ext cx="5102352" cy="548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低重叠点云里，传统 keypoint/FPFH 或普通 transformer 容易把外观相似但空间结构不同的局部区域匹配错。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343400"/>
            <a:ext cx="53949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343400"/>
            <a:ext cx="73152" cy="105156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4453128"/>
            <a:ext cx="51023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论文核心收益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764024"/>
            <a:ext cx="5102352" cy="548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3DLoMatch 上 RR 到 75.0%，相比之前最好 CoFiNet 67.5% 提升 7.5pp；LGR pose time 0.013s。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Qin et al., CVPR 2022. Figure 1 and tables are cropped from the OpenAccess paper.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输入、输出和任务边界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论文做的是刚性点云注册；mesh 通常要先采样成点云，最终输出刚体变换。</a:t>
            </a:r>
          </a:p>
        </p:txBody>
      </p:sp>
      <p:pic>
        <p:nvPicPr>
          <p:cNvPr id="4" name="Picture 3" descr="geotransformer_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889" y="1143000"/>
            <a:ext cx="5874326" cy="242316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49808" y="4069080"/>
          <a:ext cx="107442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81400"/>
                <a:gridCol w="3581400"/>
                <a:gridCol w="3581400"/>
              </a:tblGrid>
              <a:tr h="301752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输出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Feature extraction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两帧点云 P、Q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多尺度点特征；最粗层 superpoints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Superpoint matching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superpoint + features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patch-level correspondences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Point matching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每个 patch pair 的局部点和特征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dense local point correspondences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LGR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全局点对应集合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最终刚体变换 {R,t}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Inference 不需要初始位姿；训练需要数据集提供的配准真值来构造 overlap 和点对应监督。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整体模型结构：Coarse-to-Fine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从稀疏 superpoint 开始建立可靠 patch 对应，再在局部 patch 内找 dense point 对应。</a:t>
            </a:r>
          </a:p>
        </p:txBody>
      </p:sp>
      <p:pic>
        <p:nvPicPr>
          <p:cNvPr id="4" name="Picture 3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770" y="960120"/>
            <a:ext cx="8260562" cy="42062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13232" y="5394960"/>
            <a:ext cx="2788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5394960"/>
            <a:ext cx="73152" cy="658368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5504688"/>
            <a:ext cx="24963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1. Feature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5815584"/>
            <a:ext cx="2496312" cy="155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KPConv-FPN 提取多分辨率点特征。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39312" y="539496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39312" y="5394960"/>
            <a:ext cx="73152" cy="658368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5504688"/>
            <a:ext cx="22219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2. Superpoint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5815584"/>
            <a:ext cx="2221992" cy="155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几何 transformer 找 patch 对应。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91072" y="5394960"/>
            <a:ext cx="2514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91072" y="5394960"/>
            <a:ext cx="73152" cy="658368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5504688"/>
            <a:ext cx="22219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3. Point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5815584"/>
            <a:ext cx="2221992" cy="155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局部 optimal transport + mutual top-k。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42832" y="5394960"/>
            <a:ext cx="242316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42832" y="5394960"/>
            <a:ext cx="73152" cy="658368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07424" y="5504688"/>
            <a:ext cx="21305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4. LGR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07424" y="5815584"/>
            <a:ext cx="2130552" cy="155447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局部假设，全局验证与精修。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Figure 2. 下方 caption 未作为主要内容，保留用于溯源。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Superpoint 和 Patch：为什么先粗后细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低重叠场景里逐点匹配太脆弱，先做 patch 级别匹配能降低重复性要求。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143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13232" y="1143000"/>
            <a:ext cx="73152" cy="1143000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252728"/>
            <a:ext cx="309067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Superpoint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563624"/>
            <a:ext cx="30906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最粗分辨率采样点，每个 superpoint 代表一个局部区域，而不是一个孤立点。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143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34840" y="1143000"/>
            <a:ext cx="73152" cy="114300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9431" y="1252728"/>
            <a:ext cx="309067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1" y="1563624"/>
            <a:ext cx="30906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把 dense points 分配到最近 superpoint，形成局部 patch；patch 可以重叠对应。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1143000"/>
            <a:ext cx="3383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143000"/>
            <a:ext cx="73152" cy="1143000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252728"/>
            <a:ext cx="309067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匹配标准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1563624"/>
            <a:ext cx="309067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superpoint pair 是否有足够 patch overlap，而不是两个单点是否刚好重复出现。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2788920"/>
            <a:ext cx="4937760" cy="201168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输入点云通常很密，直接做全部点对应既慢又容易有外点。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superpoint 匹配是 sparse and loose：候选少、容错更强。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如果 patch 对应可靠，后面的 dense point matching 会更容易。</a:t>
            </a:r>
          </a:p>
        </p:txBody>
      </p:sp>
      <p:pic>
        <p:nvPicPr>
          <p:cNvPr id="17" name="Picture 16" descr="fig1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671" y="2606040"/>
            <a:ext cx="3401697" cy="25603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GeoTransformer 把“低重叠点云配准”转成“可靠 patch 对应提取”。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Geometric Transformer：模型的关键模块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不是普通 self-attention，而是显式加入距离和角度关系，让表示对刚体变换不敏感。</a:t>
            </a:r>
          </a:p>
        </p:txBody>
      </p:sp>
      <p:pic>
        <p:nvPicPr>
          <p:cNvPr id="4" name="Picture 3" descr="fig3_attention_mo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6222" y="1051560"/>
            <a:ext cx="2857499" cy="2057400"/>
          </a:xfrm>
          <a:prstGeom prst="rect">
            <a:avLst/>
          </a:prstGeom>
        </p:spPr>
      </p:pic>
      <p:pic>
        <p:nvPicPr>
          <p:cNvPr id="5" name="Picture 4" descr="fig4_geom_embed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4353" y="1051560"/>
            <a:ext cx="3793453" cy="18288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41248" y="34290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1248" y="3429000"/>
            <a:ext cx="73152" cy="100584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538728"/>
            <a:ext cx="29077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几何 self-attention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9624"/>
            <a:ext cx="2907792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在同一帧点云内部，用 pair-wise distance 和 triplet-wise angle 描述 superpoints 的结构。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98848" y="34290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98848" y="3429000"/>
            <a:ext cx="73152" cy="1005840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538728"/>
            <a:ext cx="29077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feature cross-attention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849624"/>
            <a:ext cx="2907792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在两帧点云之间交换特征，建模 inter-point-cloud consistency。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6448" y="3429000"/>
            <a:ext cx="32004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56448" y="3429000"/>
            <a:ext cx="73152" cy="100584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3538728"/>
            <a:ext cx="29077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重复堆叠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3849624"/>
            <a:ext cx="2907792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两种 attention 交替 Nt 次，使 intra-geometry 与 inter-matching 信息融合。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92040"/>
            <a:ext cx="10332720" cy="7315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  <a:latin typeface="Aptos"/>
              </a:defRPr>
            </a:pPr>
            <a:r>
              <a:t>重点理解：坐标本身会随姿态变换，距离和角度不会；所以论文用几何关系做 transformer 的位置/结构编码。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Figure 3/4. 本页只解释结构，不展开公式。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Superpoint Matching：输出高质量 patch 对应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Transformer 输出混合特征后，计算 superpoint 之间的相似度矩阵并做 top-k。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70432"/>
            <a:ext cx="4754880" cy="219456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每个 superpoint 都带有 learned feature 和 geometric structure embedding。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用 Gaussian correlation 得到 superpoint 相似度矩阵。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使用 dual-normalization 抑制一对多的歧义匹配。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最终取 top-k superpoint correspondences，作为后续局部点匹配的候选。</a:t>
            </a:r>
          </a:p>
        </p:txBody>
      </p:sp>
      <p:pic>
        <p:nvPicPr>
          <p:cNvPr id="5" name="Picture 4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010" y="1097280"/>
            <a:ext cx="4938378" cy="251460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4023360"/>
          <a:ext cx="10515600" cy="132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331470">
                <a:tc>
                  <a:txBody>
                    <a:bodyPr/>
                    <a:lstStyle/>
                    <a:p>
                      <a:pPr>
                        <a:defRPr b="1" sz="1060">
                          <a:solidFill>
                            <a:srgbClr val="1E293B"/>
                          </a:solidFill>
                        </a:defRPr>
                      </a:pPr>
                      <a:r>
                        <a:t>输出对象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60">
                          <a:solidFill>
                            <a:srgbClr val="1E293B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60">
                          <a:solidFill>
                            <a:srgbClr val="1E293B"/>
                          </a:solidFill>
                        </a:defRPr>
                      </a:pPr>
                      <a:r>
                        <a:t>后续用途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Patch pair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两个 superpoint 局部区域可能重叠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提取局部点集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Matching score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patch 对应置信度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排序和筛选候选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Superpoint feature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上下文增强后的 patch 描述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60">
                          <a:solidFill>
                            <a:srgbClr val="1E293B"/>
                          </a:solidFill>
                        </a:defRPr>
                      </a:pPr>
                      <a:r>
                        <a:t>辅助 dense matching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高质量 patch 对应是后面 RANSAC-free 的前提。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Point Matching：从 patch 对应传播到 dense point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全局歧义先在 superpoint 层解决，点级匹配只在局部 patch 内完成。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143000"/>
            <a:ext cx="4937760" cy="210312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对每个 superpoint correspondence，取两侧局部 patch 的 dense points。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根据点特征构造局部置信矩阵。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使用 optimal transport 处理未匹配点和局部分配。</a:t>
            </a:r>
          </a:p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mutual top-k 选出局部点对应，汇总成 global point correspondences。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3886200"/>
            <a:ext cx="49377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3886200"/>
            <a:ext cx="73152" cy="1097280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3995928"/>
            <a:ext cx="46451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为什么这样设计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306824"/>
            <a:ext cx="4645152" cy="59435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点级匹配只在相互对应的 patch 内搜索，避免全局 all-to-all 点匹配引入大量外点。</a:t>
            </a:r>
          </a:p>
        </p:txBody>
      </p:sp>
      <p:pic>
        <p:nvPicPr>
          <p:cNvPr id="9" name="Picture 8" descr="fig2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484376"/>
            <a:ext cx="5303520" cy="2700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Figure 2 右下角展示 Point Matching Module。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Local-to-Global Registration：不用 RANSAC 的位姿估计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先对每个 patch pair 求局部位姿假设，再用全局一致性选出最终变换。</a:t>
            </a:r>
          </a:p>
        </p:txBody>
      </p:sp>
      <p:pic>
        <p:nvPicPr>
          <p:cNvPr id="4" name="Picture 3" descr="geotransformer_lg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670" y="1097280"/>
            <a:ext cx="6057899" cy="242315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49808" y="3977639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49808" y="3977639"/>
            <a:ext cx="73152" cy="960120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087368"/>
            <a:ext cx="30449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98264"/>
            <a:ext cx="3044952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每个 superpoint match 的局部点对应通过 weighted SVD 产生一个 {R_i,t_i}。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43984" y="3977639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43984" y="3977639"/>
            <a:ext cx="73152" cy="96012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08576" y="4087368"/>
            <a:ext cx="30449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4398264"/>
            <a:ext cx="3044952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用整组 global point correspondences 统计哪些局部变换有更多一致内点。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3977639"/>
            <a:ext cx="33375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3977639"/>
            <a:ext cx="73152" cy="96012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2752" y="4087368"/>
            <a:ext cx="30449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Refine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2752" y="4398264"/>
            <a:ext cx="3044952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保留内点并迭代求解，得到最终刚体变换 {R,t}。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论文称 LGR pose time 相比 RANSAC 有超过 100x 加速，见 Table 2。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训练监督：关注 overlap，而不是死记点坐标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论文没有单靠交叉熵，而是让高 overlap patch 对训练贡献更大。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49808" y="1143000"/>
          <a:ext cx="1065276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0920"/>
                <a:gridCol w="3550920"/>
                <a:gridCol w="355092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293B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293B"/>
                          </a:solidFill>
                        </a:defRPr>
                      </a:pPr>
                      <a:r>
                        <a:t>监督对象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E293B"/>
                          </a:solidFill>
                        </a:defRPr>
                      </a:pPr>
                      <a:r>
                        <a:t>直观作用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Overlap-aware circle loss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superpoint / patch matching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高重叠 patch pair 权重大，低质量正样本影响小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Point matching loss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local dense point assignment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t>让 patch 内点对应矩阵更可靠，并允许未匹配点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841248" y="34290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3429000"/>
            <a:ext cx="73152" cy="1188720"/>
          </a:xfrm>
          <a:prstGeom prst="rect">
            <a:avLst/>
          </a:prstGeom>
          <a:solidFill>
            <a:srgbClr val="B83E3E"/>
          </a:solidFill>
          <a:ln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53872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为什么不用普通 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849624"/>
            <a:ext cx="2953512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一个 patch 可能和多个 patch 有部分重叠，普通单标签分类会过度简化。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4290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3429000"/>
            <a:ext cx="73152" cy="1188720"/>
          </a:xfrm>
          <a:prstGeom prst="rect">
            <a:avLst/>
          </a:prstGeom>
          <a:solidFill>
            <a:srgbClr val="6F54A4"/>
          </a:solidFill>
          <a:ln>
            <a:solidFill>
              <a:srgbClr val="6F54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45152" y="353872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为什么用 circle loss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5152" y="3849624"/>
            <a:ext cx="2953512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把匹配学习做成度量学习：正样本更近，负样本更远。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19872" y="3429000"/>
            <a:ext cx="32461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19872" y="3429000"/>
            <a:ext cx="73152" cy="118872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353872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为什么 overlap-aware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3849624"/>
            <a:ext cx="2953512" cy="6858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不同正样本的重叠率不同，高 overlap 更应该主导训练。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074920"/>
            <a:ext cx="10241280" cy="54864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E293B"/>
                </a:solidFill>
                <a:latin typeface="Aptos"/>
              </a:defRPr>
            </a:pPr>
            <a:r>
              <a:t>这部分是消融 Table 4 的核心：overlap-aware circle loss 在 3DLoMatch 上 RR 到 74.0，高于 vanilla circle loss 的 71.5。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本页为公式-free 解读；原文 Sec. 3.5。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实验设置和指标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论文用室内 3DMatch/3DLoMatch 和户外 KITTI odometry 验证。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106424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37210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Benchmark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数据特点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3DMatch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室内 RGB-D fragments；测试对 overlap &gt; 30%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FMR, IR, RR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3DLoMatch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同源室内数据；低重叠 10%-30%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FMR, IR, RR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KITTI odometry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户外 LiDAR；序列 0-5 train, 6-7 val, 8-10 test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RTE, RRE, RR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77240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3703320"/>
            <a:ext cx="73152" cy="1143000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381304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FMR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4123944"/>
            <a:ext cx="295351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Feature Matching Recall：点云对中 inlier ratio 超阈值的比例。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3703320"/>
            <a:ext cx="73152" cy="114300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381304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1" y="4123944"/>
            <a:ext cx="295351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Inlier Ratio：候选点对应中真实内点比例。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3703320"/>
            <a:ext cx="32461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3703320"/>
            <a:ext cx="73152" cy="114300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57031" y="3813048"/>
            <a:ext cx="29535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57031" y="4123944"/>
            <a:ext cx="295351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Registration Recall：最终位姿误差小于阈值的点云对比例。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3DMatch/3DLoMatch 中 RR 使用 RMSE &lt; 0.2m；KITTI 中 RR 使用 RRE&lt;5° 且 RTE&lt;2m。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室内结果：3DMatch / 3DLoMatch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GeoTransformer 的优势在低重叠 3DLoMatch 上更明显。</a:t>
            </a:r>
          </a:p>
        </p:txBody>
      </p:sp>
      <p:pic>
        <p:nvPicPr>
          <p:cNvPr id="4" name="Picture 3" descr="table1_indo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067" y="960120"/>
            <a:ext cx="4916945" cy="5074920"/>
          </a:xfrm>
          <a:prstGeom prst="rect">
            <a:avLst/>
          </a:prstGeom>
        </p:spPr>
      </p:pic>
      <p:pic>
        <p:nvPicPr>
          <p:cNvPr id="5" name="Picture 4" descr="geotransformer_key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853" y="1051560"/>
            <a:ext cx="5293894" cy="2514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080760" y="3886200"/>
            <a:ext cx="51663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3886200"/>
            <a:ext cx="73152" cy="114300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45352" y="3995928"/>
            <a:ext cx="48737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读表结论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45352" y="4306824"/>
            <a:ext cx="4873752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3DLoMatch @5000 samples：RR=75.0，高于 CoFiNet 67.5 和 Predator 59.8；FMR=88.3，高于 CoFiNet 83.1；IR=43.5，高于 Predator 26.7。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Table 1. 3DLoMatch 是 10%-30% overlap 的低重叠 benchmark。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RANSAC-free 结果：LGR 的速度价值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高质量对应点让位姿估计不再严重依赖 RANSAC。</a:t>
            </a:r>
          </a:p>
        </p:txBody>
      </p:sp>
      <p:pic>
        <p:nvPicPr>
          <p:cNvPr id="4" name="Picture 3" descr="table2_ransac_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131" y="960120"/>
            <a:ext cx="5204298" cy="34290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234440"/>
          <a:ext cx="484632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29768"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设置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3DMatch 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3DLoMatch 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Pose time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GeoTrans + RANSAC-50k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92.0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75.0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1.558s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GeoTrans + weighted SVD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86.5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59.9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0.003s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GeoTrans + LGR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0.013s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CoFiNet + LGR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87.6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64.8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0.028s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3886200"/>
            <a:ext cx="48463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3886200"/>
            <a:ext cx="73152" cy="1005840"/>
          </a:xfrm>
          <a:prstGeom prst="rect">
            <a:avLst/>
          </a:prstGeom>
          <a:solidFill>
            <a:srgbClr val="B83E3E"/>
          </a:solidFill>
          <a:ln>
            <a:solidFill>
              <a:srgbClr val="B8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3995928"/>
            <a:ext cx="455371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关键点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4306824"/>
            <a:ext cx="4553712" cy="5029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LGR 的 RR 接近 RANSAC-50k，但 pose time 从 1.558s 降到 0.013s，约 120x。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Table 2. Model time 是特征提取时间；Pose time 是位姿估计时间。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消融 1：几何 Self-Attention 是否必要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答案是必要，尤其是在 3DLoMatch 低重叠场景。</a:t>
            </a:r>
          </a:p>
        </p:txBody>
      </p:sp>
      <p:pic>
        <p:nvPicPr>
          <p:cNvPr id="4" name="Picture 3" descr="table3_ablation_at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525" y="914400"/>
            <a:ext cx="5144390" cy="347472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143000"/>
          <a:ext cx="46634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30">
                          <a:solidFill>
                            <a:srgbClr val="1E293B"/>
                          </a:solidFill>
                        </a:defRPr>
                      </a:pPr>
                      <a:r>
                        <a:t>模型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30">
                          <a:solidFill>
                            <a:srgbClr val="1E293B"/>
                          </a:solidFill>
                        </a:defRPr>
                      </a:pPr>
                      <a:r>
                        <a:t>3DLoMatch PIR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30">
                          <a:solidFill>
                            <a:srgbClr val="1E293B"/>
                          </a:solidFill>
                        </a:defRPr>
                      </a:pPr>
                      <a:r>
                        <a:t>IR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30">
                          <a:solidFill>
                            <a:srgbClr val="1E293B"/>
                          </a:solidFill>
                        </a:defRPr>
                      </a:pPr>
                      <a:r>
                        <a:t>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vanilla self-attention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45.2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32.6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68.4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pair-wise distance emb.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50.6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40.3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72.1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geometric self-attention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54.9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43.3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1E293B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537960" y="3840480"/>
            <a:ext cx="46634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3840480"/>
            <a:ext cx="73152" cy="96012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02552" y="3950208"/>
            <a:ext cx="4370831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读表结论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2552" y="4261104"/>
            <a:ext cx="4370831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完整几何 self-attention 同时提升 PIR、IR、RR；低重叠下比 vanilla self-attention 的 RR 高 5.6pp。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Table 3. ACE/RCE 为坐标类 embedding；RDE 为距离 embedding；完整方法加入距离和角度。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消融 2：Overlap-aware Circle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监督目标的设计同样贡献明显。</a:t>
            </a:r>
          </a:p>
        </p:txBody>
      </p:sp>
      <p:pic>
        <p:nvPicPr>
          <p:cNvPr id="4" name="Picture 3" descr="table4_ablation_lo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486400" cy="20574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37960" y="1143000"/>
          <a:ext cx="466344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5860"/>
                <a:gridCol w="1165860"/>
                <a:gridCol w="1165860"/>
                <a:gridCol w="1165860"/>
              </a:tblGrid>
              <a:tr h="466344"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Loss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3DMatch 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3DLoMatch 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3DLoMatch PIR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Cross entropy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68.4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45.9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Weighted CE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90.0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70.7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49.0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Circle loss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90.4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71.5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51.5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Overlap-aware circle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91.5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74.0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54.9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3794760"/>
            <a:ext cx="1037844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794760"/>
            <a:ext cx="73152" cy="914400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3904488"/>
            <a:ext cx="1008583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读表结论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215384"/>
            <a:ext cx="10085832" cy="41147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对 patch matching 来说，重叠率不是二值标签；把高 overlap 正样本加权后，3DLoMatch RR 相比普通 circle loss 提升 2.5pp。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Table 4. 该消融解释了训练目标为什么不是简单分类。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定性结果：为什么 geometric attention 更稳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它能借助全局几何关系，区分相似墙面、平面和角点。</a:t>
            </a:r>
          </a:p>
        </p:txBody>
      </p:sp>
      <p:pic>
        <p:nvPicPr>
          <p:cNvPr id="4" name="Picture 3" descr="fig5_qualit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6189" y="960120"/>
            <a:ext cx="7569725" cy="2880360"/>
          </a:xfrm>
          <a:prstGeom prst="rect">
            <a:avLst/>
          </a:prstGeom>
        </p:spPr>
      </p:pic>
      <p:pic>
        <p:nvPicPr>
          <p:cNvPr id="5" name="Picture 4" descr="fig6_attention_scor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026" y="4343400"/>
            <a:ext cx="2516964" cy="1417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0" y="4160520"/>
            <a:ext cx="56235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0" y="4160520"/>
            <a:ext cx="73152" cy="1325880"/>
          </a:xfrm>
          <a:prstGeom prst="rect">
            <a:avLst/>
          </a:prstGeom>
          <a:solidFill>
            <a:srgbClr val="007C80"/>
          </a:solidFill>
          <a:ln>
            <a:solidFill>
              <a:srgbClr val="007C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50992" y="4270248"/>
            <a:ext cx="53309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读图结论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4581144"/>
            <a:ext cx="5330952" cy="82295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Vanilla self-attention 可能把外观相似但结构位置不同的区域连错；geometric self-attention 通过和显著结构的相对几何关系，减少 outlier matches。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Figure 5/6. 绿色线为更多正确对应，红色线为错误对应。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户外 KITTI：泛化到 LiDAR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GeoTransformer 不只在室内 RGB-D fragments 上有效。</a:t>
            </a:r>
          </a:p>
        </p:txBody>
      </p:sp>
      <p:pic>
        <p:nvPicPr>
          <p:cNvPr id="4" name="Picture 3" descr="table5_kit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858" y="1234440"/>
            <a:ext cx="5536324" cy="224028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325880"/>
          <a:ext cx="44805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0140"/>
                <a:gridCol w="1120140"/>
                <a:gridCol w="1120140"/>
                <a:gridCol w="1120140"/>
              </a:tblGrid>
              <a:tr h="429768"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方法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RTE(cm)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RRE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50">
                          <a:solidFill>
                            <a:srgbClr val="1E293B"/>
                          </a:solidFill>
                        </a:defRPr>
                      </a:pPr>
                      <a:r>
                        <a:t>RR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Predator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GeoTrans RANSAC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7.4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0.27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HRegNet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~12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0.29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99.7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GeoTrans LGR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6.8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E293B"/>
                          </a:solidFill>
                        </a:defRPr>
                      </a:pPr>
                      <a:r>
                        <a:t>99.8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069080"/>
            <a:ext cx="102870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069080"/>
            <a:ext cx="73152" cy="960120"/>
          </a:xfrm>
          <a:prstGeom prst="rect">
            <a:avLst/>
          </a:prstGeom>
          <a:solidFill>
            <a:srgbClr val="47895C"/>
          </a:solidFill>
          <a:ln>
            <a:solidFill>
              <a:srgbClr val="4789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4178808"/>
            <a:ext cx="999439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读表结论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4489704"/>
            <a:ext cx="9994392" cy="4572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LGR 版本在 KITTI 上 RTE=6.8cm、RRE=0.24°、RR=99.8%，和 RANSAC-based SOTA 持平，并优于列出的 RANSAC-free 方法。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Source: Table 5. 论文按 Predator/D3Feat/FCGF 等协议评估。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工程落地判断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GeoTransformer 很强，但不是所有 mesh 对齐项目的第一实现。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78992"/>
          <a:ext cx="11064240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557784"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问题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GeoTransformer 是否适合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19">
                          <a:solidFill>
                            <a:srgbClr val="1E293B"/>
                          </a:solidFill>
                        </a:defRPr>
                      </a:pPr>
                      <a:r>
                        <a:t>理由</a:t>
                      </a:r>
                    </a:p>
                  </a:txBody>
                  <a:tcPr marL="32004" marR="32004" marT="13716" marB="13716">
                    <a:solidFill>
                      <a:srgbClr val="E8EEF6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低重叠扫描配准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适合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对应点质量是瓶颈，论文优势最明显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已有较好初值的精配准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不一定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GICP/point-to-plane ICP 更轻、更直接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纯 C++ 无三方库项目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落地成本高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需要深度模型、权重、推理框架和训练域适配</a:t>
                      </a:r>
                    </a:p>
                  </a:txBody>
                  <a:tcPr marL="32004" marR="32004" marT="13716" marB="13716"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mesh CAD 刚体对齐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看数据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1E293B"/>
                          </a:solidFill>
                        </a:defRPr>
                      </a:pPr>
                      <a:r>
                        <a:t>如果几何规整且重叠高，传统全局特征+GICP 可能足够</a:t>
                      </a:r>
                    </a:p>
                  </a:txBody>
                  <a:tcPr marL="32004" marR="32004" marT="13716" marB="13716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13232" y="44348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4434840"/>
            <a:ext cx="73152" cy="1051560"/>
          </a:xfrm>
          <a:prstGeom prst="rect">
            <a:avLst/>
          </a:prstGeom>
          <a:solidFill>
            <a:srgbClr val="205DA8"/>
          </a:solidFill>
          <a:ln>
            <a:solidFill>
              <a:srgbClr val="20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4544568"/>
            <a:ext cx="48737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推荐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855464"/>
            <a:ext cx="4873752" cy="548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GeoTransformer 产出粗位姿和对应点；最后仍用 GICP 或 robust point-to-plane ICP 做精修。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91072" y="4434840"/>
            <a:ext cx="516636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6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91072" y="4434840"/>
            <a:ext cx="73152" cy="1051560"/>
          </a:xfrm>
          <a:prstGeom prst="rect">
            <a:avLst/>
          </a:prstGeom>
          <a:solidFill>
            <a:srgbClr val="C27E29"/>
          </a:solidFill>
          <a:ln>
            <a:solidFill>
              <a:srgbClr val="C27E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4544568"/>
            <a:ext cx="4873752" cy="25603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280" b="1">
                <a:solidFill>
                  <a:srgbClr val="1E293B"/>
                </a:solidFill>
                <a:latin typeface="Aptos"/>
              </a:defRPr>
            </a:pPr>
            <a:r>
              <a:t>当前 C++ 项目建议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855464"/>
            <a:ext cx="4873752" cy="548639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070" b="0">
                <a:solidFill>
                  <a:srgbClr val="566375"/>
                </a:solidFill>
                <a:latin typeface="Aptos"/>
              </a:defRPr>
            </a:pPr>
            <a:r>
              <a:t>先实现 GICP；再把学习式配准作为可选外部模块，而不是塞进无依赖核心库。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结论：GeoTransformer 是“低重叠对应点提取器 + 快速位姿估计器”，不是替代所有 ICP 的终点。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0352" y="292608"/>
            <a:ext cx="10607040" cy="4114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2500" b="1">
                <a:solidFill>
                  <a:srgbClr val="1E293B"/>
                </a:solidFill>
                <a:latin typeface="Aptos"/>
              </a:defRPr>
            </a:pPr>
            <a:r>
              <a:t>资料来源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51560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1150" b="0">
                <a:solidFill>
                  <a:srgbClr val="566375"/>
                </a:solidFill>
                <a:latin typeface="Aptos"/>
              </a:defRPr>
            </a:pPr>
            <a:r>
              <a:t>本专题 PPT 的图表均来自 GeoTransformer CVPR 2022 OpenAccess 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234440"/>
            <a:ext cx="10835640" cy="4023360"/>
          </a:xfrm>
          <a:prstGeom prst="rect">
            <a:avLst/>
          </a:prstGeom>
          <a:noFill/>
        </p:spPr>
        <p:txBody>
          <a:bodyPr wrap="square" lIns="45720" rIns="27432" tIns="18288" bIns="18288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Qin, Yu, Wang, Guo, Peng, Xu. Geometric Transformer for Fast and Robust Point Cloud Registration. CVPR 2022.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OpenAccess PDF: https://openaccess.thecvf.com/content/CVPR2022/papers/Qin_Geometric_Transformer_for_Fast_and_Robust_Point_Cloud_Registration_CVPR_2022_paper.pdf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Code URL shown in paper: https://github.com/qinzheng93/GeoTransformer</a:t>
            </a:r>
          </a:p>
          <a:p>
            <a:pPr>
              <a:spcAft>
                <a:spcPts val="400"/>
              </a:spcAft>
              <a:defRPr sz="1300">
                <a:solidFill>
                  <a:srgbClr val="1E293B"/>
                </a:solidFill>
                <a:latin typeface="Aptos"/>
              </a:defRPr>
            </a:pPr>
            <a:r>
              <a:t>本 PPT 裁剪了 Figure 1/2/3/4/5/6 和 Table 1/2/3/4/5，并在每页给出读图结论。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11064240" cy="21945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defRPr sz="740" b="0">
                <a:solidFill>
                  <a:srgbClr val="566375"/>
                </a:solidFill>
                <a:latin typeface="Aptos"/>
              </a:defRPr>
            </a:pPr>
            <a:r>
              <a:t>Prepared 2026-08-05 in /Users/scupt/Code/mesh_alignment_ppt.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